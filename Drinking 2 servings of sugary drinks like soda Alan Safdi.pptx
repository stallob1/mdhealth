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7" d="100"/>
          <a:sy n="67" d="100"/>
        </p:scale>
        <p:origin x="1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82CE-F2C2-3152-7BB2-1A0C9B35B7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7C217C-7306-758C-8888-BCE63DB4D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11F2A1-A917-397E-F527-D999838B689F}"/>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5" name="Footer Placeholder 4">
            <a:extLst>
              <a:ext uri="{FF2B5EF4-FFF2-40B4-BE49-F238E27FC236}">
                <a16:creationId xmlns:a16="http://schemas.microsoft.com/office/drawing/2014/main" id="{4D200D80-1144-A2DD-7382-6551D2CE0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D71985-AB26-90E0-1791-E91E480EA288}"/>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172066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0D5D-C7FD-1A50-CBC4-1C8608F760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9988C1-41DE-0330-F865-F4828E17A1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488D76-AC72-DB5F-C77B-0B475D9141B8}"/>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5" name="Footer Placeholder 4">
            <a:extLst>
              <a:ext uri="{FF2B5EF4-FFF2-40B4-BE49-F238E27FC236}">
                <a16:creationId xmlns:a16="http://schemas.microsoft.com/office/drawing/2014/main" id="{6BDCB8D8-EB94-5B41-8646-98F9C17284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C85E3-25E4-8AA2-4878-1915DC798053}"/>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123384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3630B-EE3D-9D93-AC79-465D816C3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FABC19-8465-F08F-A7D3-EDF9E7ABF5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9379BE-F5AB-C223-83EF-D55C6C718A5B}"/>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5" name="Footer Placeholder 4">
            <a:extLst>
              <a:ext uri="{FF2B5EF4-FFF2-40B4-BE49-F238E27FC236}">
                <a16:creationId xmlns:a16="http://schemas.microsoft.com/office/drawing/2014/main" id="{66B6590D-B2D3-0D2D-4D01-BDE39A971D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7A47E-B8F8-060C-EA3F-A2132CCE0C96}"/>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2506427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7A04-154E-5B31-17AE-AB84ED7B5E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2ABE9F-3628-85C3-BFCD-7FED8B4B7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DF1C56-7786-D42C-322C-06A74BA19B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653160-2BB7-9436-0359-EA8ECDFBF2A9}"/>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6" name="Footer Placeholder 5">
            <a:extLst>
              <a:ext uri="{FF2B5EF4-FFF2-40B4-BE49-F238E27FC236}">
                <a16:creationId xmlns:a16="http://schemas.microsoft.com/office/drawing/2014/main" id="{DB93C01C-0C15-4676-19D6-D4119D2314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C72406-DE5D-C060-95FA-9291DB3E7373}"/>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92364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18856-55B3-572B-E887-6173D4E5DD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843ED5-F7B0-E2FD-EE8C-48921341F4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27158-8860-12BB-97E3-0B233DEAC2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7AFE8-F22E-AE0B-746F-9687DC079B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B053AF-DEC3-B166-F097-56D1B285E8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608F67-6F1F-68B6-A3EF-FBE3715691F5}"/>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8" name="Footer Placeholder 7">
            <a:extLst>
              <a:ext uri="{FF2B5EF4-FFF2-40B4-BE49-F238E27FC236}">
                <a16:creationId xmlns:a16="http://schemas.microsoft.com/office/drawing/2014/main" id="{E57AC23B-7BA7-7A1C-8296-09E0A04D4D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17FABF-906F-F6D5-2267-EC8DE1346546}"/>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3505213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7EAEE-0434-78FD-7009-CAD257CB23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F24E33-A21D-047C-64E4-1239161694E9}"/>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4" name="Footer Placeholder 3">
            <a:extLst>
              <a:ext uri="{FF2B5EF4-FFF2-40B4-BE49-F238E27FC236}">
                <a16:creationId xmlns:a16="http://schemas.microsoft.com/office/drawing/2014/main" id="{85E57157-2995-AFDD-0389-A42EAF090C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7673FD-2C1B-F460-CC47-F5791A9564B8}"/>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88886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FEA39-6F3D-68DF-A152-14D3515CC2CD}"/>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3" name="Footer Placeholder 2">
            <a:extLst>
              <a:ext uri="{FF2B5EF4-FFF2-40B4-BE49-F238E27FC236}">
                <a16:creationId xmlns:a16="http://schemas.microsoft.com/office/drawing/2014/main" id="{81185396-A2BE-8342-8013-66A91D62B5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CE1B48-B756-5EDB-40CE-01D34D39D65C}"/>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2300241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49177-3047-B4FD-CAF3-26B1BADFB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CD71DE-347A-5DBE-403D-2081A9F6D9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D8C531-1149-2E30-1B89-E4416477A8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697E32-493F-644F-A37D-902ED8FEF0C2}"/>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6" name="Footer Placeholder 5">
            <a:extLst>
              <a:ext uri="{FF2B5EF4-FFF2-40B4-BE49-F238E27FC236}">
                <a16:creationId xmlns:a16="http://schemas.microsoft.com/office/drawing/2014/main" id="{EEB63A09-7A87-F874-10EC-9C059071E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B84158-87E0-A6EC-EF2C-CB58CC6D23AE}"/>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3122408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2EAA-205A-70E2-E46E-CA408C94D3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800611-4A6E-2BD3-4D96-8F0E94D00F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98FF91-99A2-8515-6033-6E26B7E1B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0609B-F325-8ED1-B737-24636BD336C2}"/>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6" name="Footer Placeholder 5">
            <a:extLst>
              <a:ext uri="{FF2B5EF4-FFF2-40B4-BE49-F238E27FC236}">
                <a16:creationId xmlns:a16="http://schemas.microsoft.com/office/drawing/2014/main" id="{6C637171-2589-4361-B7CC-8A93BEA288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DB88D5-80FD-7454-327A-D6C5F39D26CF}"/>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104686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FD622-F4F5-C8B4-1C2B-7C867505B1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8ACE88-B441-E6E2-F9EC-DFCC54613E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C0336A-4BFD-F76B-CD3D-E331F046CA3A}"/>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5" name="Footer Placeholder 4">
            <a:extLst>
              <a:ext uri="{FF2B5EF4-FFF2-40B4-BE49-F238E27FC236}">
                <a16:creationId xmlns:a16="http://schemas.microsoft.com/office/drawing/2014/main" id="{36A369BE-011D-15C3-21DF-4D261B753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F38BDF-FB2E-BFD6-774E-FC04955A8B21}"/>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185741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E71973-2E6A-50C7-9208-0BF83F60DC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1675B1-4A5A-7565-86F5-718A091F15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16A1F2-8841-0148-DB04-4B9EF88F16EC}"/>
              </a:ext>
            </a:extLst>
          </p:cNvPr>
          <p:cNvSpPr>
            <a:spLocks noGrp="1"/>
          </p:cNvSpPr>
          <p:nvPr>
            <p:ph type="dt" sz="half" idx="10"/>
          </p:nvPr>
        </p:nvSpPr>
        <p:spPr/>
        <p:txBody>
          <a:bodyPr/>
          <a:lstStyle/>
          <a:p>
            <a:fld id="{EF6E787F-5C74-4EBA-9FC3-53A37660D172}" type="datetimeFigureOut">
              <a:rPr lang="en-US" smtClean="0"/>
              <a:t>3/8/2024</a:t>
            </a:fld>
            <a:endParaRPr lang="en-US"/>
          </a:p>
        </p:txBody>
      </p:sp>
      <p:sp>
        <p:nvSpPr>
          <p:cNvPr id="5" name="Footer Placeholder 4">
            <a:extLst>
              <a:ext uri="{FF2B5EF4-FFF2-40B4-BE49-F238E27FC236}">
                <a16:creationId xmlns:a16="http://schemas.microsoft.com/office/drawing/2014/main" id="{149BC7AA-63C2-967D-CC8B-6883267FE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50F46-04DA-8823-9D6D-FE745E29CCD0}"/>
              </a:ext>
            </a:extLst>
          </p:cNvPr>
          <p:cNvSpPr>
            <a:spLocks noGrp="1"/>
          </p:cNvSpPr>
          <p:nvPr>
            <p:ph type="sldNum" sz="quarter" idx="12"/>
          </p:nvPr>
        </p:nvSpPr>
        <p:spPr/>
        <p:txBody>
          <a:bodyPr/>
          <a:lstStyle/>
          <a:p>
            <a:fld id="{C5A2F1E9-4DBC-43AC-ADA6-965BF846084F}" type="slidenum">
              <a:rPr lang="en-US" smtClean="0"/>
              <a:t>‹#›</a:t>
            </a:fld>
            <a:endParaRPr lang="en-US"/>
          </a:p>
        </p:txBody>
      </p:sp>
    </p:spTree>
    <p:extLst>
      <p:ext uri="{BB962C8B-B14F-4D97-AF65-F5344CB8AC3E}">
        <p14:creationId xmlns:p14="http://schemas.microsoft.com/office/powerpoint/2010/main" val="762531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309D23-6044-0A1E-5B84-7D76BBFDB8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DF5E85-0CAD-E320-B302-9CF299B7B6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61171A-6C33-8DAF-E326-35F9B61F73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6E787F-5C74-4EBA-9FC3-53A37660D172}" type="datetimeFigureOut">
              <a:rPr lang="en-US" smtClean="0"/>
              <a:t>3/8/2024</a:t>
            </a:fld>
            <a:endParaRPr lang="en-US"/>
          </a:p>
        </p:txBody>
      </p:sp>
      <p:sp>
        <p:nvSpPr>
          <p:cNvPr id="5" name="Footer Placeholder 4">
            <a:extLst>
              <a:ext uri="{FF2B5EF4-FFF2-40B4-BE49-F238E27FC236}">
                <a16:creationId xmlns:a16="http://schemas.microsoft.com/office/drawing/2014/main" id="{EBFB0D8B-F48F-0A0B-D020-7089633CC6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864DC29-FF9A-A665-C88F-F5A74F8015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A2F1E9-4DBC-43AC-ADA6-965BF846084F}" type="slidenum">
              <a:rPr lang="en-US" smtClean="0"/>
              <a:t>‹#›</a:t>
            </a:fld>
            <a:endParaRPr lang="en-US"/>
          </a:p>
        </p:txBody>
      </p:sp>
    </p:spTree>
    <p:extLst>
      <p:ext uri="{BB962C8B-B14F-4D97-AF65-F5344CB8AC3E}">
        <p14:creationId xmlns:p14="http://schemas.microsoft.com/office/powerpoint/2010/main" val="2420099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CFDE0C-2D14-3E78-532D-308BF2A71CC8}"/>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9B73AE-4686-D52F-F8BB-565A479E816C}"/>
              </a:ext>
            </a:extLst>
          </p:cNvPr>
          <p:cNvSpPr>
            <a:spLocks noGrp="1"/>
          </p:cNvSpPr>
          <p:nvPr>
            <p:ph type="title"/>
          </p:nvPr>
        </p:nvSpPr>
        <p:spPr>
          <a:xfrm>
            <a:off x="761803" y="350196"/>
            <a:ext cx="4646904" cy="1624520"/>
          </a:xfrm>
        </p:spPr>
        <p:txBody>
          <a:bodyPr anchor="ctr">
            <a:normAutofit/>
          </a:bodyPr>
          <a:lstStyle/>
          <a:p>
            <a:r>
              <a:rPr lang="en-US" sz="2500" b="0" i="0">
                <a:effectLst/>
                <a:latin typeface="Helvetica Neue"/>
              </a:rPr>
              <a:t>Drinking 2 servings of sugary drinks like soda per week may harm heart health</a:t>
            </a:r>
            <a:endParaRPr lang="en-US" sz="2500"/>
          </a:p>
        </p:txBody>
      </p:sp>
      <p:sp>
        <p:nvSpPr>
          <p:cNvPr id="3" name="Content Placeholder 2">
            <a:extLst>
              <a:ext uri="{FF2B5EF4-FFF2-40B4-BE49-F238E27FC236}">
                <a16:creationId xmlns:a16="http://schemas.microsoft.com/office/drawing/2014/main" id="{CCC23018-8F5D-DD63-0C9F-975680E2BCD3}"/>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US" sz="2000" b="1" i="0">
                <a:effectLst/>
                <a:latin typeface="Nova sans-serif"/>
              </a:rPr>
              <a:t>A new study ( </a:t>
            </a:r>
            <a:r>
              <a:rPr lang="en-US" sz="2000" b="0" i="0">
                <a:effectLst/>
                <a:latin typeface="Nova sans-serif"/>
              </a:rPr>
              <a:t>100,000 adults over a 30-year period</a:t>
            </a:r>
            <a:r>
              <a:rPr lang="en-US" sz="2000" b="1" i="0">
                <a:effectLst/>
                <a:latin typeface="Nova sans-serif"/>
              </a:rPr>
              <a:t>  pub. 3-2024) indicates that drinking just two servings per week of sugar-sweetened beverages like soda can erase the heart health benefits of physical activity.</a:t>
            </a:r>
            <a:endParaRPr lang="en-US" sz="2000" b="0" i="0">
              <a:effectLst/>
              <a:latin typeface="Nova sans-serif"/>
            </a:endParaRPr>
          </a:p>
          <a:p>
            <a:pPr>
              <a:buFont typeface="Arial" panose="020B0604020202020204" pitchFamily="34" charset="0"/>
              <a:buChar char="•"/>
            </a:pPr>
            <a:r>
              <a:rPr lang="en-US" sz="2000" b="1" i="0">
                <a:effectLst/>
                <a:latin typeface="Nova sans-serif"/>
              </a:rPr>
              <a:t>Excess sugar can lead to chronic inflammation and obesity, which are risk factors for cardiovascular disease.</a:t>
            </a:r>
            <a:endParaRPr lang="en-US" sz="2000" b="0" i="0">
              <a:effectLst/>
              <a:latin typeface="Nova sans-serif"/>
            </a:endParaRPr>
          </a:p>
          <a:p>
            <a:endParaRPr lang="en-US" sz="2000"/>
          </a:p>
        </p:txBody>
      </p:sp>
      <p:pic>
        <p:nvPicPr>
          <p:cNvPr id="5" name="Picture 4" descr="Green glass bottles">
            <a:extLst>
              <a:ext uri="{FF2B5EF4-FFF2-40B4-BE49-F238E27FC236}">
                <a16:creationId xmlns:a16="http://schemas.microsoft.com/office/drawing/2014/main" id="{738B0597-E5B5-D2A8-8B48-91A769C34594}"/>
              </a:ext>
            </a:extLst>
          </p:cNvPr>
          <p:cNvPicPr>
            <a:picLocks noChangeAspect="1"/>
          </p:cNvPicPr>
          <p:nvPr/>
        </p:nvPicPr>
        <p:blipFill rotWithShape="1">
          <a:blip r:embed="rId2"/>
          <a:srcRect l="22570" r="18920"/>
          <a:stretch/>
        </p:blipFill>
        <p:spPr>
          <a:xfrm>
            <a:off x="6096000" y="1"/>
            <a:ext cx="6102825" cy="6858000"/>
          </a:xfrm>
          <a:prstGeom prst="rect">
            <a:avLst/>
          </a:prstGeom>
        </p:spPr>
      </p:pic>
    </p:spTree>
    <p:extLst>
      <p:ext uri="{BB962C8B-B14F-4D97-AF65-F5344CB8AC3E}">
        <p14:creationId xmlns:p14="http://schemas.microsoft.com/office/powerpoint/2010/main" val="1705430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6F4E98-BD0B-D8F4-85EA-D5257936017B}"/>
            </a:ext>
          </a:extLst>
        </p:cNvPr>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AD6DE9-160D-FC9F-A2BE-18B5A2C0F584}"/>
              </a:ext>
            </a:extLst>
          </p:cNvPr>
          <p:cNvSpPr>
            <a:spLocks noGrp="1"/>
          </p:cNvSpPr>
          <p:nvPr>
            <p:ph type="title"/>
          </p:nvPr>
        </p:nvSpPr>
        <p:spPr>
          <a:xfrm>
            <a:off x="761800" y="762001"/>
            <a:ext cx="5334197" cy="1708242"/>
          </a:xfrm>
        </p:spPr>
        <p:txBody>
          <a:bodyPr anchor="ctr">
            <a:normAutofit/>
          </a:bodyPr>
          <a:lstStyle/>
          <a:p>
            <a:r>
              <a:rPr lang="en-US" sz="3100" b="0" i="0" dirty="0">
                <a:effectLst/>
                <a:latin typeface="Helvetica Neue"/>
              </a:rPr>
              <a:t>Drinking 2 servings of sugary drinks like soda per week may harm heart health</a:t>
            </a:r>
            <a:endParaRPr lang="en-US" sz="3100" dirty="0"/>
          </a:p>
        </p:txBody>
      </p:sp>
      <p:sp>
        <p:nvSpPr>
          <p:cNvPr id="3" name="Content Placeholder 2">
            <a:extLst>
              <a:ext uri="{FF2B5EF4-FFF2-40B4-BE49-F238E27FC236}">
                <a16:creationId xmlns:a16="http://schemas.microsoft.com/office/drawing/2014/main" id="{BAF1CA89-3F7C-9BD3-64B3-78F629508BA5}"/>
              </a:ext>
            </a:extLst>
          </p:cNvPr>
          <p:cNvSpPr>
            <a:spLocks noGrp="1"/>
          </p:cNvSpPr>
          <p:nvPr>
            <p:ph idx="1"/>
          </p:nvPr>
        </p:nvSpPr>
        <p:spPr>
          <a:xfrm>
            <a:off x="761800" y="2470244"/>
            <a:ext cx="5334197" cy="3769835"/>
          </a:xfrm>
        </p:spPr>
        <p:txBody>
          <a:bodyPr anchor="ctr">
            <a:normAutofit/>
          </a:bodyPr>
          <a:lstStyle/>
          <a:p>
            <a:pPr marL="0" indent="0">
              <a:buNone/>
            </a:pPr>
            <a:br>
              <a:rPr lang="en-US" sz="1900" b="1" i="0">
                <a:effectLst/>
                <a:latin typeface="Nova sans-serif"/>
              </a:rPr>
            </a:br>
            <a:endParaRPr lang="en-US" sz="1900" b="0" i="0">
              <a:effectLst/>
              <a:latin typeface="Nova sans-serif"/>
            </a:endParaRPr>
          </a:p>
          <a:p>
            <a:pPr>
              <a:buFont typeface="Arial" panose="020B0604020202020204" pitchFamily="34" charset="0"/>
              <a:buChar char="•"/>
            </a:pPr>
            <a:r>
              <a:rPr lang="en-US" sz="1900" b="1" i="0">
                <a:effectLst/>
                <a:latin typeface="Nova sans-serif"/>
              </a:rPr>
              <a:t>Sugary beverages can cause alterations in the natural bacterial communities in your gut (microbiota), which can lead to increased build of plaque (atherosclerosis) in the major arteries of the body (i.e. coronary arteries, cerebral arteries, etc)</a:t>
            </a:r>
            <a:br>
              <a:rPr lang="en-US" sz="1900" b="1" i="0">
                <a:effectLst/>
                <a:latin typeface="Nova sans-serif"/>
              </a:rPr>
            </a:br>
            <a:endParaRPr lang="en-US" sz="1900" b="0" i="0">
              <a:effectLst/>
              <a:latin typeface="Nova sans-serif"/>
            </a:endParaRPr>
          </a:p>
          <a:p>
            <a:pPr>
              <a:buFont typeface="Arial" panose="020B0604020202020204" pitchFamily="34" charset="0"/>
              <a:buChar char="•"/>
            </a:pPr>
            <a:r>
              <a:rPr lang="en-US" sz="1900" b="1" i="0">
                <a:effectLst/>
                <a:latin typeface="Nova sans-serif"/>
              </a:rPr>
              <a:t>Diet soda has been shown to have similar negative effects to regular soda and should also be consumed in moderation or avoided for healthy dietary patterns</a:t>
            </a:r>
            <a:endParaRPr lang="en-US" sz="1900" b="0" i="0">
              <a:effectLst/>
              <a:latin typeface="Nova sans-serif"/>
            </a:endParaRPr>
          </a:p>
          <a:p>
            <a:endParaRPr lang="en-US" sz="1900"/>
          </a:p>
        </p:txBody>
      </p:sp>
      <p:pic>
        <p:nvPicPr>
          <p:cNvPr id="18" name="Picture 17" descr="A group of bottles of soda on a table&#10;&#10;Description automatically generated">
            <a:extLst>
              <a:ext uri="{FF2B5EF4-FFF2-40B4-BE49-F238E27FC236}">
                <a16:creationId xmlns:a16="http://schemas.microsoft.com/office/drawing/2014/main" id="{A6C6F371-649D-8250-6E28-3CA9519A7788}"/>
              </a:ext>
            </a:extLst>
          </p:cNvPr>
          <p:cNvPicPr>
            <a:picLocks noChangeAspect="1"/>
          </p:cNvPicPr>
          <p:nvPr/>
        </p:nvPicPr>
        <p:blipFill rotWithShape="1">
          <a:blip r:embed="rId2">
            <a:extLst>
              <a:ext uri="{28A0092B-C50C-407E-A947-70E740481C1C}">
                <a14:useLocalDpi xmlns:a14="http://schemas.microsoft.com/office/drawing/2010/main" val="0"/>
              </a:ext>
            </a:extLst>
          </a:blip>
          <a:srcRect l="23884" r="24279"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116862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158</Words>
  <Application>Microsoft Office PowerPoint</Application>
  <PresentationFormat>Widescreen</PresentationFormat>
  <Paragraphs>7</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Helvetica Neue</vt:lpstr>
      <vt:lpstr>Nova sans-serif</vt:lpstr>
      <vt:lpstr>Office Theme</vt:lpstr>
      <vt:lpstr>Drinking 2 servings of sugary drinks like soda per week may harm heart health</vt:lpstr>
      <vt:lpstr>Drinking 2 servings of sugary drinks like soda per week may harm heart health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Drinking 2 servings of sugary drinks like soda per week may harm heart health</dc:title>
  <dc:creator>William Renner</dc:creator>
  <cp:lastModifiedBy>William Renner</cp:lastModifiedBy>
  <cp:revision>1</cp:revision>
  <dcterms:created xsi:type="dcterms:W3CDTF">2024-03-08T13:02:47Z</dcterms:created>
  <dcterms:modified xsi:type="dcterms:W3CDTF">2024-03-08T13:09:48Z</dcterms:modified>
</cp:coreProperties>
</file>