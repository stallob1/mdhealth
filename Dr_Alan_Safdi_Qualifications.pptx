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Dr. Alan V. Safdi, MD, FACG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CEO of MD Health</a:t>
            </a:r>
          </a:p>
          <a:p>
            <a:r>
              <a:t>World-Renowned Gastroenterologist &amp; Wellness Advocate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47+ years of medical experience</a:t>
            </a:r>
          </a:p>
          <a:p>
            <a:pPr>
              <a:spcAft>
                <a:spcPts val="1200"/>
              </a:spcAft>
              <a:defRPr sz="1800"/>
            </a:pPr>
            <a:r>
              <a:t>• World-renowned gastroenterologist and researcher</a:t>
            </a:r>
          </a:p>
          <a:p>
            <a:pPr>
              <a:spcAft>
                <a:spcPts val="1200"/>
              </a:spcAft>
              <a:defRPr sz="1800"/>
            </a:pPr>
            <a:r>
              <a:t>• CEO of MD Health (nutrition bar company)</a:t>
            </a:r>
          </a:p>
          <a:p>
            <a:pPr>
              <a:spcAft>
                <a:spcPts val="1200"/>
              </a:spcAft>
              <a:defRPr sz="1800"/>
            </a:pPr>
            <a:r>
              <a:t>• Chief Medical Officer of Quadrant Health (Stanford/Mayo Clinic backed)</a:t>
            </a:r>
          </a:p>
          <a:p>
            <a:pPr>
              <a:spcAft>
                <a:spcPts val="1200"/>
              </a:spcAft>
              <a:defRPr sz="1800"/>
            </a:pPr>
            <a:r>
              <a:t>• 900+ clinical research studies involvement</a:t>
            </a:r>
          </a:p>
          <a:p>
            <a:pPr>
              <a:spcAft>
                <a:spcPts val="1200"/>
              </a:spcAft>
              <a:defRPr sz="1800"/>
            </a:pPr>
            <a:r>
              <a:t>• Serial entrepreneur with proven track record</a:t>
            </a:r>
          </a:p>
          <a:p>
            <a:pPr>
              <a:spcAft>
                <a:spcPts val="1200"/>
              </a:spcAft>
              <a:defRPr sz="1800"/>
            </a:pPr>
            <a:r>
              <a:t>• Passionate advocate for disease prevention and wellness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Education &amp;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UNDERGRADUATE</a:t>
            </a:r>
          </a:p>
          <a:p>
            <a:pPr>
              <a:spcAft>
                <a:spcPts val="800"/>
              </a:spcAft>
              <a:defRPr sz="1600"/>
            </a:pPr>
            <a:r>
              <a:t>• Northwestern University (1971-1974)</a:t>
            </a:r>
          </a:p>
          <a:p>
            <a:pPr>
              <a:spcAft>
                <a:spcPts val="800"/>
              </a:spcAft>
              <a:defRPr sz="1600"/>
            </a:pPr>
            <a:r>
              <a:t>• BA in Biology (graduated in 3 years)</a:t>
            </a:r>
          </a:p>
          <a:p>
            <a:pPr>
              <a:spcAft>
                <a:spcPts val="800"/>
              </a:spcAft>
              <a:defRPr sz="1600"/>
            </a:pPr>
            <a:r>
              <a:t>• Phi Beta Kappa honors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MEDICAL SCHOOL</a:t>
            </a:r>
          </a:p>
          <a:p>
            <a:pPr>
              <a:spcAft>
                <a:spcPts val="800"/>
              </a:spcAft>
              <a:defRPr sz="1600"/>
            </a:pPr>
            <a:r>
              <a:t>• University of Cincinnati College of Medicine (Class of 1978)</a:t>
            </a:r>
          </a:p>
          <a:p>
            <a:pPr>
              <a:spcAft>
                <a:spcPts val="800"/>
              </a:spcAft>
              <a:defRPr sz="1600"/>
            </a:pPr>
            <a:r>
              <a:t>• Alpha Omega Alpha (AOA) Medical Honor Society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RESIDENCY &amp; FELLOWSHIP</a:t>
            </a:r>
          </a:p>
          <a:p>
            <a:pPr>
              <a:spcAft>
                <a:spcPts val="800"/>
              </a:spcAft>
              <a:defRPr sz="1600"/>
            </a:pPr>
            <a:r>
              <a:t>• UC San Diego Medical Center - Internal Medicine Residency</a:t>
            </a:r>
          </a:p>
          <a:p>
            <a:pPr>
              <a:spcAft>
                <a:spcPts val="800"/>
              </a:spcAft>
              <a:defRPr sz="1600"/>
            </a:pPr>
            <a:r>
              <a:t>• University of Cincinnati - Gastroenterology Fellowship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BOARD CERTIFICATIONS</a:t>
            </a:r>
          </a:p>
          <a:p>
            <a:pPr>
              <a:spcAft>
                <a:spcPts val="800"/>
              </a:spcAft>
              <a:defRPr sz="1600"/>
            </a:pPr>
            <a:r>
              <a:t>• Internal Medicine</a:t>
            </a:r>
          </a:p>
          <a:p>
            <a:pPr>
              <a:spcAft>
                <a:spcPts val="800"/>
              </a:spcAft>
              <a:defRPr sz="1600"/>
            </a:pPr>
            <a:r>
              <a:t>• Gastroenterology</a:t>
            </a:r>
          </a:p>
          <a:p>
            <a:pPr>
              <a:spcAft>
                <a:spcPts val="800"/>
              </a:spcAft>
              <a:defRPr sz="1600"/>
            </a:pPr>
            <a:r>
              <a:t>• Fellow of the American College of Gastroenterology (FACG)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Current Leadership 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000"/>
            </a:pPr>
            <a:r>
              <a:t>CHIEF EXECUTIVE OFFICER</a:t>
            </a:r>
          </a:p>
          <a:p>
            <a:pPr>
              <a:spcAft>
                <a:spcPts val="1400"/>
              </a:spcAft>
              <a:defRPr sz="2000"/>
            </a:pPr>
            <a:r>
              <a:t>MD Health (nutrition bar company)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CHIEF MEDICAL OFFICER</a:t>
            </a:r>
          </a:p>
          <a:p>
            <a:pPr>
              <a:spcAft>
                <a:spcPts val="1400"/>
              </a:spcAft>
              <a:defRPr sz="2000"/>
            </a:pPr>
            <a:r>
              <a:t>Quadrant Health (co-owned by Stanford University and Mayo Clinic)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MEDICAL DIRECTOR</a:t>
            </a:r>
          </a:p>
          <a:p>
            <a:pPr>
              <a:spcAft>
                <a:spcPts val="1400"/>
              </a:spcAft>
              <a:defRPr sz="2000"/>
            </a:pPr>
            <a:r>
              <a:t>Telluride Longevity Institute</a:t>
            </a:r>
          </a:p>
          <a:p>
            <a:pPr>
              <a:spcAft>
                <a:spcPts val="1400"/>
              </a:spcAft>
              <a:defRPr sz="2000"/>
            </a:pPr>
          </a:p>
          <a:p>
            <a:pPr>
              <a:spcAft>
                <a:spcPts val="1400"/>
              </a:spcAft>
              <a:defRPr sz="2000"/>
            </a:pPr>
            <a:r>
              <a:t>PRESIDENT</a:t>
            </a:r>
          </a:p>
          <a:p>
            <a:pPr>
              <a:spcAft>
                <a:spcPts val="1400"/>
              </a:spcAft>
              <a:defRPr sz="2000"/>
            </a:pPr>
            <a:r>
              <a:t>Consultants for Clinical 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Research &amp; Publications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RESEARCH VOLUME</a:t>
            </a:r>
          </a:p>
          <a:p>
            <a:pPr>
              <a:spcAft>
                <a:spcPts val="1000"/>
              </a:spcAft>
              <a:defRPr sz="1600"/>
            </a:pPr>
            <a:r>
              <a:t>• Principal Investigator: 291 clinical research studies</a:t>
            </a:r>
          </a:p>
          <a:p>
            <a:pPr>
              <a:spcAft>
                <a:spcPts val="1000"/>
              </a:spcAft>
              <a:defRPr sz="1600"/>
            </a:pPr>
            <a:r>
              <a:t>• Co-Investigator: 845 clinical research studies</a:t>
            </a:r>
          </a:p>
          <a:p>
            <a:pPr>
              <a:spcAft>
                <a:spcPts val="1000"/>
              </a:spcAft>
              <a:defRPr sz="1600"/>
            </a:pPr>
            <a:r>
              <a:t>• Total: 900+ research protocols over 35+ years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PUBLICATION VENUES</a:t>
            </a:r>
          </a:p>
          <a:p>
            <a:pPr>
              <a:spcAft>
                <a:spcPts val="1000"/>
              </a:spcAft>
              <a:defRPr sz="1600"/>
            </a:pPr>
            <a:r>
              <a:t>• American Journal of Medicine</a:t>
            </a:r>
          </a:p>
          <a:p>
            <a:pPr>
              <a:spcAft>
                <a:spcPts val="1000"/>
              </a:spcAft>
              <a:defRPr sz="1600"/>
            </a:pPr>
            <a:r>
              <a:t>• American Journal of Gastroenterology</a:t>
            </a:r>
          </a:p>
          <a:p>
            <a:pPr>
              <a:spcAft>
                <a:spcPts val="1000"/>
              </a:spcAft>
              <a:defRPr sz="1600"/>
            </a:pPr>
            <a:r>
              <a:t>• Annals of Internal Medicine</a:t>
            </a:r>
          </a:p>
          <a:p>
            <a:pPr>
              <a:spcAft>
                <a:spcPts val="1000"/>
              </a:spcAft>
              <a:defRPr sz="1600"/>
            </a:pPr>
            <a:r>
              <a:t>• Alimentary Pharmacology &amp; Therapeutics</a:t>
            </a:r>
          </a:p>
          <a:p>
            <a:pPr>
              <a:spcAft>
                <a:spcPts val="1000"/>
              </a:spcAft>
              <a:defRPr sz="1600"/>
            </a:pPr>
            <a:r>
              <a:t>• Numerous other prominent medical journals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RESEARCH FOCUS AREAS</a:t>
            </a:r>
          </a:p>
          <a:p>
            <a:pPr>
              <a:spcAft>
                <a:spcPts val="1000"/>
              </a:spcAft>
              <a:defRPr sz="1600"/>
            </a:pPr>
            <a:r>
              <a:t>• Nutrition and Gastroenterology</a:t>
            </a:r>
          </a:p>
          <a:p>
            <a:pPr>
              <a:spcAft>
                <a:spcPts val="1000"/>
              </a:spcAft>
              <a:defRPr sz="1600"/>
            </a:pPr>
            <a:r>
              <a:t>• Disease Prevention &amp; Wellness</a:t>
            </a:r>
          </a:p>
          <a:p>
            <a:pPr>
              <a:spcAft>
                <a:spcPts val="1000"/>
              </a:spcAft>
              <a:defRPr sz="1600"/>
            </a:pPr>
            <a:r>
              <a:t>• Gut Health &amp; Microbiome</a:t>
            </a:r>
          </a:p>
          <a:p>
            <a:pPr>
              <a:spcAft>
                <a:spcPts val="1000"/>
              </a:spcAft>
              <a:defRPr sz="1600"/>
            </a:pPr>
            <a:r>
              <a:t>• Longevity &amp; Healthy Aging</a:t>
            </a:r>
          </a:p>
          <a:p>
            <a:pPr>
              <a:spcAft>
                <a:spcPts val="1000"/>
              </a:spcAft>
              <a:defRPr sz="1600"/>
            </a:pPr>
            <a:r>
              <a:t>• Inflammatory Bowel Disease (IBD)</a:t>
            </a:r>
          </a:p>
          <a:p>
            <a:pPr>
              <a:spcAft>
                <a:spcPts val="1000"/>
              </a:spcAft>
              <a:defRPr sz="1600"/>
            </a:pPr>
            <a:r>
              <a:t>• Colon Cancer Prevention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Entrepreneurial Ventures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FOUNDED/CO-FOUNDED 11+ HEALTHCARE COMPANIES: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• MD Health - CEO (current nutrition bar company)</a:t>
            </a:r>
          </a:p>
          <a:p>
            <a:pPr>
              <a:spcAft>
                <a:spcPts val="1000"/>
              </a:spcAft>
              <a:defRPr sz="1600"/>
            </a:pPr>
            <a:r>
              <a:t>• Quadrant Health - CMO (AI-powered patient safety)</a:t>
            </a:r>
          </a:p>
          <a:p>
            <a:pPr>
              <a:spcAft>
                <a:spcPts val="1000"/>
              </a:spcAft>
              <a:defRPr sz="1600"/>
            </a:pPr>
            <a:r>
              <a:t>• eMerge Health Solutions - Co-founder &amp; CEO</a:t>
            </a:r>
          </a:p>
          <a:p>
            <a:pPr>
              <a:spcAft>
                <a:spcPts val="1000"/>
              </a:spcAft>
              <a:defRPr sz="1600"/>
            </a:pPr>
            <a:r>
              <a:t>  (raised $850K from investors led by CincyTech)</a:t>
            </a:r>
          </a:p>
          <a:p>
            <a:pPr>
              <a:spcAft>
                <a:spcPts val="1000"/>
              </a:spcAft>
              <a:defRPr sz="1600"/>
            </a:pPr>
            <a:r>
              <a:t>• Ohio GI and Liver Institute - Co-founder</a:t>
            </a:r>
          </a:p>
          <a:p>
            <a:pPr>
              <a:spcAft>
                <a:spcPts val="1000"/>
              </a:spcAft>
              <a:defRPr sz="1600"/>
            </a:pPr>
            <a:r>
              <a:t>• Consultants for Clinical Research - Co-founder</a:t>
            </a:r>
          </a:p>
          <a:p>
            <a:pPr>
              <a:spcAft>
                <a:spcPts val="1000"/>
              </a:spcAft>
              <a:defRPr sz="1600"/>
            </a:pPr>
            <a:r>
              <a:t>• Telluride Longevity Institute - Co-founder</a:t>
            </a:r>
          </a:p>
          <a:p>
            <a:pPr>
              <a:spcAft>
                <a:spcPts val="1000"/>
              </a:spcAft>
              <a:defRPr sz="1600"/>
            </a:pPr>
            <a:r>
              <a:t>• Multiple Outpatient Endoscopy Centers</a:t>
            </a:r>
          </a:p>
          <a:p>
            <a:pPr>
              <a:spcAft>
                <a:spcPts val="1000"/>
              </a:spcAft>
              <a:defRPr sz="1600"/>
            </a:pPr>
            <a:r>
              <a:t>  (sold to national company within 3 years)</a:t>
            </a:r>
          </a:p>
          <a:p>
            <a:pPr>
              <a:spcAft>
                <a:spcPts val="1000"/>
              </a:spcAft>
              <a:defRPr sz="1600"/>
            </a:pPr>
            <a:r>
              <a:t>• CME Adventures, Veterinary Endo Institute, and more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Media &amp; Public Presence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PODCAST</a:t>
            </a:r>
          </a:p>
          <a:p>
            <a:pPr>
              <a:spcAft>
                <a:spcPts val="1000"/>
              </a:spcAft>
              <a:defRPr sz="1600"/>
            </a:pPr>
            <a:r>
              <a:t>• "Wellness Evidence-Based Medicine" (Apple Podcasts)</a:t>
            </a:r>
          </a:p>
          <a:p>
            <a:pPr>
              <a:spcAft>
                <a:spcPts val="1000"/>
              </a:spcAft>
              <a:defRPr sz="1600"/>
            </a:pPr>
            <a:r>
              <a:t>• Co-hosted with Dr. William Renner</a:t>
            </a:r>
          </a:p>
          <a:p>
            <a:pPr>
              <a:spcAft>
                <a:spcPts val="1000"/>
              </a:spcAft>
              <a:defRPr sz="1600"/>
            </a:pPr>
            <a:r>
              <a:t>• Evidence-based approach to wellness, nutrition, microbiome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REGULAR COLUMN</a:t>
            </a:r>
          </a:p>
          <a:p>
            <a:pPr>
              <a:spcAft>
                <a:spcPts val="1000"/>
              </a:spcAft>
              <a:defRPr sz="1600"/>
            </a:pPr>
            <a:r>
              <a:t>• "To Your Health" on Telluride Inside... and Out</a:t>
            </a:r>
          </a:p>
          <a:p>
            <a:pPr>
              <a:spcAft>
                <a:spcPts val="1000"/>
              </a:spcAft>
              <a:defRPr sz="1600"/>
            </a:pPr>
            <a:r>
              <a:t>• Topics: nutrition, longevity, disease prevention, supplements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SPEAKING ENGAGEMENTS</a:t>
            </a:r>
          </a:p>
          <a:p>
            <a:pPr>
              <a:spcAft>
                <a:spcPts val="1000"/>
              </a:spcAft>
              <a:defRPr sz="1600"/>
            </a:pPr>
            <a:r>
              <a:t>• Telluride Integrative Wellness Summit (with Deepak Chopra)</a:t>
            </a:r>
          </a:p>
          <a:p>
            <a:pPr>
              <a:spcAft>
                <a:spcPts val="1000"/>
              </a:spcAft>
              <a:defRPr sz="1600"/>
            </a:pPr>
            <a:r>
              <a:t>• Cornell University guest lectures</a:t>
            </a:r>
          </a:p>
          <a:p>
            <a:pPr>
              <a:spcAft>
                <a:spcPts val="1000"/>
              </a:spcAft>
              <a:defRPr sz="1600"/>
            </a:pPr>
            <a:r>
              <a:t>• "Unlocking Longevity" lecture at Sheridan Opera House</a:t>
            </a:r>
          </a:p>
          <a:p>
            <a:pPr>
              <a:spcAft>
                <a:spcPts val="1000"/>
              </a:spcAft>
              <a:defRPr sz="1600"/>
            </a:pPr>
            <a:r>
              <a:t>• International lecturer on wellness and gastroenterology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PROGRAMS CREATED</a:t>
            </a:r>
          </a:p>
          <a:p>
            <a:pPr>
              <a:spcAft>
                <a:spcPts val="1000"/>
              </a:spcAft>
              <a:defRPr sz="1600"/>
            </a:pPr>
            <a:r>
              <a:t>• "Live Longer Retreat" - Week-long wellness intensives in Telluride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Philosophy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700"/>
            </a:pPr>
            <a:r>
              <a:t>CORE BELIEFS</a:t>
            </a:r>
          </a:p>
          <a:p>
            <a:pPr>
              <a:spcAft>
                <a:spcPts val="1000"/>
              </a:spcAft>
              <a:defRPr sz="1700"/>
            </a:pPr>
            <a:r>
              <a:t>"Passionate about disease prevention and wellness, </a:t>
            </a:r>
          </a:p>
          <a:p>
            <a:pPr>
              <a:spcAft>
                <a:spcPts val="1000"/>
              </a:spcAft>
              <a:defRPr sz="1700"/>
            </a:pPr>
            <a:r>
              <a:t>not just fixing what has gone wrong."</a:t>
            </a:r>
          </a:p>
          <a:p>
            <a:pPr>
              <a:spcAft>
                <a:spcPts val="1000"/>
              </a:spcAft>
              <a:defRPr sz="1700"/>
            </a:pPr>
          </a:p>
          <a:p>
            <a:pPr>
              <a:spcAft>
                <a:spcPts val="1000"/>
              </a:spcAft>
              <a:defRPr sz="1700"/>
            </a:pPr>
            <a:r>
              <a:t>KEY PRINCIPLES</a:t>
            </a:r>
          </a:p>
          <a:p>
            <a:pPr>
              <a:spcAft>
                <a:spcPts val="1000"/>
              </a:spcAft>
              <a:defRPr sz="1700"/>
            </a:pPr>
            <a:r>
              <a:t>✓ Evidence-Based Medicine</a:t>
            </a:r>
          </a:p>
          <a:p>
            <a:pPr>
              <a:spcAft>
                <a:spcPts val="1000"/>
              </a:spcAft>
              <a:defRPr sz="1700"/>
            </a:pPr>
            <a:r>
              <a:t>  All recommendations grounded in peer-reviewed research</a:t>
            </a:r>
          </a:p>
          <a:p>
            <a:pPr>
              <a:spcAft>
                <a:spcPts val="1000"/>
              </a:spcAft>
              <a:defRPr sz="1700"/>
            </a:pPr>
          </a:p>
          <a:p>
            <a:pPr>
              <a:spcAft>
                <a:spcPts val="1000"/>
              </a:spcAft>
              <a:defRPr sz="1700"/>
            </a:pPr>
            <a:r>
              <a:t>✓ Prevention Over Treatment</a:t>
            </a:r>
          </a:p>
          <a:p>
            <a:pPr>
              <a:spcAft>
                <a:spcPts val="1000"/>
              </a:spcAft>
              <a:defRPr sz="1700"/>
            </a:pPr>
            <a:r>
              <a:t>  Focus on stopping disease before it starts</a:t>
            </a:r>
          </a:p>
          <a:p>
            <a:pPr>
              <a:spcAft>
                <a:spcPts val="1000"/>
              </a:spcAft>
              <a:defRPr sz="1700"/>
            </a:pPr>
          </a:p>
          <a:p>
            <a:pPr>
              <a:spcAft>
                <a:spcPts val="1000"/>
              </a:spcAft>
              <a:defRPr sz="1700"/>
            </a:pPr>
            <a:r>
              <a:t>✓ Holistic Approach</a:t>
            </a:r>
          </a:p>
          <a:p>
            <a:pPr>
              <a:spcAft>
                <a:spcPts val="1000"/>
              </a:spcAft>
              <a:defRPr sz="1700"/>
            </a:pPr>
            <a:r>
              <a:t>  Incorporating diet, exercise, education, and alternative approaches</a:t>
            </a:r>
          </a:p>
          <a:p>
            <a:pPr>
              <a:spcAft>
                <a:spcPts val="1000"/>
              </a:spcAft>
              <a:defRPr sz="1700"/>
            </a:pPr>
          </a:p>
          <a:p>
            <a:pPr>
              <a:spcAft>
                <a:spcPts val="1000"/>
              </a:spcAft>
              <a:defRPr sz="1700"/>
            </a:pPr>
            <a:r>
              <a:t>✓ Longevity Focus</a:t>
            </a:r>
          </a:p>
          <a:p>
            <a:pPr>
              <a:spcAft>
                <a:spcPts val="1000"/>
              </a:spcAft>
              <a:defRPr sz="1700"/>
            </a:pPr>
            <a:r>
              <a:t>  Studies populations with longest lifespans (Blue Zones)</a:t>
            </a:r>
          </a:p>
          <a:p>
            <a:pPr>
              <a:spcAft>
                <a:spcPts val="1000"/>
              </a:spcAft>
              <a:defRPr sz="1700"/>
            </a:pPr>
          </a:p>
          <a:p>
            <a:pPr>
              <a:spcAft>
                <a:spcPts val="1000"/>
              </a:spcAft>
              <a:defRPr sz="1700"/>
            </a:pPr>
            <a:r>
              <a:t>✓ Mind-Body Connection</a:t>
            </a:r>
          </a:p>
          <a:p>
            <a:pPr>
              <a:spcAft>
                <a:spcPts val="1000"/>
              </a:spcAft>
              <a:defRPr sz="1700"/>
            </a:pPr>
            <a:r>
              <a:t>  Understanding relationship between mental and physical health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Awards &amp;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Phi Beta Kappa - Prestigious academic honor society</a:t>
            </a:r>
          </a:p>
          <a:p>
            <a:pPr>
              <a:spcAft>
                <a:spcPts val="1200"/>
              </a:spcAft>
              <a:defRPr sz="1800"/>
            </a:pPr>
            <a:r>
              <a:t>• Alpha Omega Alpha (AOA) - Most prestigious medical honor society</a:t>
            </a:r>
          </a:p>
          <a:p>
            <a:pPr>
              <a:spcAft>
                <a:spcPts val="1200"/>
              </a:spcAft>
              <a:defRPr sz="1800"/>
            </a:pPr>
            <a:r>
              <a:t>  (elected in 3rd year of medical school)</a:t>
            </a:r>
          </a:p>
          <a:p>
            <a:pPr>
              <a:spcAft>
                <a:spcPts val="1200"/>
              </a:spcAft>
              <a:defRPr sz="1800"/>
            </a:pPr>
            <a:r>
              <a:t>• Fellow of the American College of Gastroenterology (FACG)</a:t>
            </a:r>
          </a:p>
          <a:p>
            <a:pPr>
              <a:spcAft>
                <a:spcPts val="1200"/>
              </a:spcAft>
              <a:defRPr sz="1800"/>
            </a:pPr>
            <a:r>
              <a:t>• Patient Top Choice Award - 5-star patient rating recognition</a:t>
            </a:r>
          </a:p>
          <a:p>
            <a:pPr>
              <a:spcAft>
                <a:spcPts val="1200"/>
              </a:spcAft>
              <a:defRPr sz="1800"/>
            </a:pPr>
            <a:r>
              <a:t>• President of Ohio Gastroenterology Society</a:t>
            </a:r>
          </a:p>
          <a:p>
            <a:pPr>
              <a:spcAft>
                <a:spcPts val="1200"/>
              </a:spcAft>
              <a:defRPr sz="1800"/>
            </a:pPr>
            <a:r>
              <a:t>  (elected to represent the State of Ohio)</a:t>
            </a:r>
          </a:p>
          <a:p>
            <a:pPr>
              <a:spcAft>
                <a:spcPts val="1200"/>
              </a:spcAft>
              <a:defRPr sz="1800"/>
            </a:pPr>
            <a:r>
              <a:t>• Advisory board member of Telluride First Foundation</a:t>
            </a:r>
          </a:p>
          <a:p>
            <a:pPr>
              <a:spcAft>
                <a:spcPts val="1200"/>
              </a:spcAft>
              <a:defRPr sz="1800"/>
            </a:pPr>
            <a:r>
              <a:t>• Featured on national program "Medical Crossfire"</a:t>
            </a:r>
          </a:p>
          <a:p>
            <a:pPr>
              <a:spcAft>
                <a:spcPts val="1200"/>
              </a:spcAft>
              <a:defRPr sz="1800"/>
            </a:pPr>
            <a:r>
              <a:t>• Principal lecturer alongside Deepak Chopra at wellness summits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Key Marketing Assets for MD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600"/>
            </a:pPr>
            <a:r>
              <a:t>CREDIBILITY FACTORS</a:t>
            </a:r>
          </a:p>
          <a:p>
            <a:pPr>
              <a:spcAft>
                <a:spcPts val="1000"/>
              </a:spcAft>
              <a:defRPr sz="1600"/>
            </a:pPr>
            <a:r>
              <a:t>• 47+ years of medical experience</a:t>
            </a:r>
          </a:p>
          <a:p>
            <a:pPr>
              <a:spcAft>
                <a:spcPts val="1000"/>
              </a:spcAft>
              <a:defRPr sz="1600"/>
            </a:pPr>
            <a:r>
              <a:t>• 900+ research studies involvement</a:t>
            </a:r>
          </a:p>
          <a:p>
            <a:pPr>
              <a:spcAft>
                <a:spcPts val="1000"/>
              </a:spcAft>
              <a:defRPr sz="1600"/>
            </a:pPr>
            <a:r>
              <a:t>• Board certified in two specialties</a:t>
            </a:r>
          </a:p>
          <a:p>
            <a:pPr>
              <a:spcAft>
                <a:spcPts val="1000"/>
              </a:spcAft>
              <a:defRPr sz="1600"/>
            </a:pPr>
            <a:r>
              <a:t>• CMO of Quadrant Health (Stanford/Mayo Clinic backed)</a:t>
            </a:r>
          </a:p>
          <a:p>
            <a:pPr>
              <a:spcAft>
                <a:spcPts val="1000"/>
              </a:spcAft>
              <a:defRPr sz="1600"/>
            </a:pPr>
            <a:r>
              <a:t>• Publications in top medical journals</a:t>
            </a:r>
          </a:p>
          <a:p>
            <a:pPr>
              <a:spcAft>
                <a:spcPts val="1000"/>
              </a:spcAft>
              <a:defRPr sz="1600"/>
            </a:pPr>
            <a:r>
              <a:t>• Association with Deepak Chopra at wellness summits</a:t>
            </a:r>
          </a:p>
          <a:p>
            <a:pPr>
              <a:spcAft>
                <a:spcPts val="1000"/>
              </a:spcAft>
              <a:defRPr sz="1600"/>
            </a:pPr>
            <a:r>
              <a:t>• Cornell University guest lecturer</a:t>
            </a:r>
          </a:p>
          <a:p>
            <a:pPr>
              <a:spcAft>
                <a:spcPts val="1000"/>
              </a:spcAft>
              <a:defRPr sz="1600"/>
            </a:pPr>
            <a:r>
              <a:t>• Serial entrepreneur with proven track record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UNIQUE SELLING POINTS</a:t>
            </a:r>
          </a:p>
          <a:p>
            <a:pPr>
              <a:spcAft>
                <a:spcPts val="1000"/>
              </a:spcAft>
              <a:defRPr sz="1600"/>
            </a:pPr>
            <a:r>
              <a:t>• Doctor-formulated by a gastroenterologist (gut health expert)</a:t>
            </a:r>
          </a:p>
          <a:p>
            <a:pPr>
              <a:spcAft>
                <a:spcPts val="1000"/>
              </a:spcAft>
              <a:defRPr sz="1600"/>
            </a:pPr>
            <a:r>
              <a:t>• Backed by 35+ years of nutrition research</a:t>
            </a:r>
          </a:p>
          <a:p>
            <a:pPr>
              <a:spcAft>
                <a:spcPts val="1000"/>
              </a:spcAft>
              <a:defRPr sz="1600"/>
            </a:pPr>
            <a:r>
              <a:t>• Evidence-based approach to ingredients</a:t>
            </a:r>
          </a:p>
          <a:p>
            <a:pPr>
              <a:spcAft>
                <a:spcPts val="1000"/>
              </a:spcAft>
              <a:defRPr sz="1600"/>
            </a:pPr>
            <a:r>
              <a:t>• Created by someone who understands how food impacts </a:t>
            </a:r>
          </a:p>
          <a:p>
            <a:pPr>
              <a:spcAft>
                <a:spcPts val="1000"/>
              </a:spcAft>
              <a:defRPr sz="1600"/>
            </a:pPr>
            <a:r>
              <a:t>  the digestive system</a:t>
            </a:r>
          </a:p>
          <a:p>
            <a:pPr>
              <a:spcAft>
                <a:spcPts val="1000"/>
              </a:spcAft>
              <a:defRPr sz="1600"/>
            </a:pPr>
            <a:r>
              <a:t>• Longevity and wellness focus aligns with health-conscious consumers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Dr. Alan V. Safdi brings unparalleled credentials to MD Health: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World-renowned gastroenterologist with 47+ years experience</a:t>
            </a:r>
          </a:p>
          <a:p>
            <a:pPr>
              <a:spcAft>
                <a:spcPts val="1200"/>
              </a:spcAft>
              <a:defRPr sz="1800"/>
            </a:pPr>
            <a:r>
              <a:t>• Extensive research background (900+ studies)</a:t>
            </a:r>
          </a:p>
          <a:p>
            <a:pPr>
              <a:spcAft>
                <a:spcPts val="1200"/>
              </a:spcAft>
              <a:defRPr sz="1800"/>
            </a:pPr>
            <a:r>
              <a:t>• Proven entrepreneurial success (11+ companies founded)</a:t>
            </a:r>
          </a:p>
          <a:p>
            <a:pPr>
              <a:spcAft>
                <a:spcPts val="1200"/>
              </a:spcAft>
              <a:defRPr sz="1800"/>
            </a:pPr>
            <a:r>
              <a:t>• Evidence-based approach to nutrition and wellness</a:t>
            </a:r>
          </a:p>
          <a:p>
            <a:pPr>
              <a:spcAft>
                <a:spcPts val="1200"/>
              </a:spcAft>
              <a:defRPr sz="1800"/>
            </a:pPr>
            <a:r>
              <a:t>• Passion for prevention over treatment</a:t>
            </a:r>
          </a:p>
          <a:p>
            <a:pPr>
              <a:spcAft>
                <a:spcPts val="1200"/>
              </a:spcAft>
              <a:defRPr sz="1800"/>
            </a:pPr>
            <a:r>
              <a:t>• Strong public presence and media credibility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His expertise in gut health, nutrition research, and longevity </a:t>
            </a:r>
          </a:p>
          <a:p>
            <a:pPr>
              <a:spcAft>
                <a:spcPts val="1200"/>
              </a:spcAft>
              <a:defRPr sz="1800"/>
            </a:pPr>
            <a:r>
              <a:t>makes him the ideal authority figure for MD Health's mission </a:t>
            </a:r>
          </a:p>
          <a:p>
            <a:pPr>
              <a:spcAft>
                <a:spcPts val="1200"/>
              </a:spcAft>
              <a:defRPr sz="1800"/>
            </a:pPr>
            <a:r>
              <a:t>of providing evidence-based nutrition products that promote </a:t>
            </a:r>
          </a:p>
          <a:p>
            <a:pPr>
              <a:spcAft>
                <a:spcPts val="1200"/>
              </a:spcAft>
              <a:defRPr sz="1800"/>
            </a:pPr>
            <a:r>
              <a:t>wellness and disease prevention.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